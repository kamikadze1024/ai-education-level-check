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6" r:id="rId8"/>
    <p:sldId id="263" r:id="rId9"/>
    <p:sldId id="264" r:id="rId10"/>
    <p:sldId id="261" r:id="rId11"/>
    <p:sldId id="262" r:id="rId12"/>
    <p:sldId id="267" r:id="rId13"/>
    <p:sldId id="268" r:id="rId14"/>
    <p:sldId id="265" r:id="rId15"/>
  </p:sldIdLst>
  <p:sldSz cx="14630400" cy="8229600"/>
  <p:notesSz cx="8229600" cy="14630400"/>
  <p:embeddedFontLst>
    <p:embeddedFont>
      <p:font typeface="Inter" panose="02000503000000020004" pitchFamily="2" charset="0"/>
      <p:regular r:id="rId17"/>
    </p:embeddedFont>
    <p:embeddedFont>
      <p:font typeface="Manrope" pitchFamily="2" charset="0"/>
      <p:regular r:id="rId18"/>
      <p:bold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992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200" y="2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32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2668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47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13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8820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71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4077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3826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12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546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714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4565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003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178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545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701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421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5895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1261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071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46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7272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423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9760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remlin.ru/events/president/news/79256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Система проверки знаний </a:t>
            </a:r>
            <a:r>
              <a:rPr lang="ru-RU" sz="4450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      </a:t>
            </a:r>
            <a:r>
              <a:rPr lang="en-US" sz="4450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на основе</a:t>
            </a:r>
            <a:r>
              <a:rPr lang="ru-RU" sz="4450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4450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искусственного интеллекта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89" y="555516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Оценка знаний в произвольной предметной области — автоматически, точно и масштабируемо.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0" y="593767"/>
            <a:ext cx="6058272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Придумаю тесты. Проверю знания.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89" y="318510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AI-система оценки эффективности обучения, проведения рубежного контроля знаний и экзаменационных (аттестационных) мероприятий сотрудников.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280190" y="4908708"/>
            <a:ext cx="7556421" cy="2727125"/>
          </a:xfrm>
          <a:prstGeom prst="roundRect">
            <a:avLst>
              <a:gd name="adj" fmla="val 9946"/>
            </a:avLst>
          </a:prstGeom>
          <a:solidFill>
            <a:srgbClr val="FFC4B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004" y="5260419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99564" y="5192196"/>
            <a:ext cx="6710233" cy="2016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20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Оценка знаний на основе учебных и нормативных материалов, корпоративной базы знаний — с генерацией вопросов, оценкой ответов, рекомендациями в обучении и персональными планами развития.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7021" y="1755340"/>
            <a:ext cx="4016357" cy="7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AI EdTech Team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59487" y="3612534"/>
            <a:ext cx="6407944" cy="2158247"/>
          </a:xfrm>
          <a:prstGeom prst="roundRect">
            <a:avLst>
              <a:gd name="adj" fmla="val 11210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4019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Кашицын Денис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28224" y="4510207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Tech Lead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28224" y="5009198"/>
            <a:ext cx="5939076" cy="75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Telegram: </a:t>
            </a:r>
            <a:r>
              <a:rPr lang="en-US" sz="2400" i="1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@dkashitsyn</a:t>
            </a:r>
            <a:endParaRPr lang="ru-RU" sz="2400" i="1" dirty="0">
              <a:solidFill>
                <a:srgbClr val="55575A"/>
              </a:solidFill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/>
              <a:t>Tel: +7-921-765-81-25</a:t>
            </a:r>
          </a:p>
        </p:txBody>
      </p:sp>
      <p:sp>
        <p:nvSpPr>
          <p:cNvPr id="7" name="Shape 5"/>
          <p:cNvSpPr/>
          <p:nvPr/>
        </p:nvSpPr>
        <p:spPr>
          <a:xfrm>
            <a:off x="7326226" y="3612534"/>
            <a:ext cx="6408063" cy="2139684"/>
          </a:xfrm>
          <a:prstGeom prst="roundRect">
            <a:avLst>
              <a:gd name="adj" fmla="val 11210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62982" y="4019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Подобряев Сергей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62982" y="4510207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AI Developer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62982" y="5009198"/>
            <a:ext cx="5939195" cy="71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Telegram: </a:t>
            </a:r>
            <a:r>
              <a:rPr lang="en-US" sz="2400" i="1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@p30s08</a:t>
            </a:r>
          </a:p>
          <a:p>
            <a:pPr>
              <a:lnSpc>
                <a:spcPts val="2850"/>
              </a:lnSpc>
            </a:pPr>
            <a:r>
              <a:rPr lang="en-US" sz="2400" dirty="0"/>
              <a:t>Tel: +7-903-326-76-92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85880" y="399649"/>
            <a:ext cx="937617" cy="295037"/>
          </a:xfrm>
          <a:prstGeom prst="roundRect">
            <a:avLst>
              <a:gd name="adj" fmla="val 41806"/>
            </a:avLst>
          </a:prstGeom>
          <a:solidFill>
            <a:srgbClr val="FFD7CC"/>
          </a:solidFill>
          <a:ln/>
        </p:spPr>
      </p:sp>
      <p:sp>
        <p:nvSpPr>
          <p:cNvPr id="4" name="Text 1"/>
          <p:cNvSpPr/>
          <p:nvPr/>
        </p:nvSpPr>
        <p:spPr>
          <a:xfrm>
            <a:off x="6188630" y="454844"/>
            <a:ext cx="732115" cy="19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ПРОБЛЕМА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85880" y="936188"/>
            <a:ext cx="7945041" cy="1070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4200"/>
              </a:lnSpc>
              <a:buNone/>
            </a:pPr>
            <a:r>
              <a:rPr lang="en-US" sz="3350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Оценка знаний: медленно, дорого, субъективно</a:t>
            </a:r>
            <a:endParaRPr lang="en-US" sz="3350" dirty="0"/>
          </a:p>
        </p:txBody>
      </p:sp>
      <p:sp>
        <p:nvSpPr>
          <p:cNvPr id="6" name="Text 3"/>
          <p:cNvSpPr/>
          <p:nvPr/>
        </p:nvSpPr>
        <p:spPr>
          <a:xfrm>
            <a:off x="6085880" y="2797612"/>
            <a:ext cx="2141339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Кто страдает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85880" y="3194566"/>
            <a:ext cx="3763566" cy="72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850"/>
              </a:lnSpc>
              <a:buNone/>
            </a:pPr>
            <a:r>
              <a:rPr lang="en-US" sz="16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HR, L&amp;D, руководители подразделений, преподаватели вузов и колледжей, центры сертификации, внутренние экзаменаторы.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39710" y="4686368"/>
            <a:ext cx="3763566" cy="1070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850"/>
              </a:lnSpc>
              <a:buNone/>
            </a:pPr>
            <a:r>
              <a:rPr lang="en-US" sz="16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Базы знаний постоянно меняются, а адаптация тестовых материалов требует огромных затрат — и всё равно отстаёт от реальности.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274975" y="2797612"/>
            <a:ext cx="2622113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Как справляются сейчас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10274975" y="3210758"/>
            <a:ext cx="3763566" cy="1025604"/>
          </a:xfrm>
          <a:prstGeom prst="roundRect">
            <a:avLst>
              <a:gd name="adj" fmla="val 10699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52115" y="3210758"/>
            <a:ext cx="91440" cy="1025604"/>
          </a:xfrm>
          <a:prstGeom prst="roundRect">
            <a:avLst>
              <a:gd name="adj" fmla="val 168613"/>
            </a:avLst>
          </a:prstGeom>
          <a:solidFill>
            <a:srgbClr val="FF7047"/>
          </a:solidFill>
          <a:ln/>
        </p:spPr>
      </p:sp>
      <p:sp>
        <p:nvSpPr>
          <p:cNvPr id="12" name="Text 9"/>
          <p:cNvSpPr/>
          <p:nvPr/>
        </p:nvSpPr>
        <p:spPr>
          <a:xfrm>
            <a:off x="10537627" y="3404830"/>
            <a:ext cx="2141339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Ручная проверка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0537627" y="3801785"/>
            <a:ext cx="3306842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Высокие трудозатраты экспертов и HR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274975" y="4365665"/>
            <a:ext cx="3763566" cy="1266111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52115" y="4365665"/>
            <a:ext cx="91440" cy="1266111"/>
          </a:xfrm>
          <a:prstGeom prst="roundRect">
            <a:avLst>
              <a:gd name="adj" fmla="val 168613"/>
            </a:avLst>
          </a:prstGeom>
          <a:solidFill>
            <a:srgbClr val="FF7047"/>
          </a:solidFill>
          <a:ln/>
        </p:spPr>
      </p:sp>
      <p:sp>
        <p:nvSpPr>
          <p:cNvPr id="16" name="Text 13"/>
          <p:cNvSpPr/>
          <p:nvPr/>
        </p:nvSpPr>
        <p:spPr>
          <a:xfrm>
            <a:off x="10537627" y="4559737"/>
            <a:ext cx="2141339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Шаблонные тесты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0537627" y="4956691"/>
            <a:ext cx="3306842" cy="481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Устаревшие LMS без оценки открытых ответов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10274975" y="5761077"/>
            <a:ext cx="3763566" cy="1266111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52115" y="5761077"/>
            <a:ext cx="91440" cy="1266111"/>
          </a:xfrm>
          <a:prstGeom prst="roundRect">
            <a:avLst>
              <a:gd name="adj" fmla="val 168613"/>
            </a:avLst>
          </a:prstGeom>
          <a:solidFill>
            <a:srgbClr val="FF7047"/>
          </a:solidFill>
          <a:ln/>
        </p:spPr>
      </p:sp>
      <p:sp>
        <p:nvSpPr>
          <p:cNvPr id="20" name="Text 17"/>
          <p:cNvSpPr/>
          <p:nvPr/>
        </p:nvSpPr>
        <p:spPr>
          <a:xfrm>
            <a:off x="10537627" y="5955149"/>
            <a:ext cx="2141339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Нет обратной связи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0537626" y="6352103"/>
            <a:ext cx="3392129" cy="481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Отсутствие персонализированных рекомендаций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77297"/>
            <a:ext cx="2192655" cy="426244"/>
          </a:xfrm>
          <a:prstGeom prst="roundRect">
            <a:avLst>
              <a:gd name="adj" fmla="val 38315"/>
            </a:avLst>
          </a:prstGeom>
          <a:solidFill>
            <a:srgbClr val="FFD7CC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333753"/>
            <a:ext cx="19204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МАСШТАБ ПРОБЛЕМЫ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339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137053"/>
            <a:ext cx="33587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Средний бизнес России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93790" y="283154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По данным реестра МСП — </a:t>
            </a:r>
            <a:r>
              <a:rPr lang="en-US" sz="2400" b="1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22 000 предприятий</a:t>
            </a:r>
            <a:r>
              <a:rPr lang="en-US" sz="2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 со среднесписочной численностью свыше </a:t>
            </a:r>
            <a:r>
              <a:rPr lang="en-US" sz="2400" b="1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2 млн сотрудников</a:t>
            </a:r>
            <a:r>
              <a:rPr lang="en-US" sz="2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. Большинству необходимо периодически проводить аттестационные мероприятия.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93790" y="3925881"/>
            <a:ext cx="13042821" cy="35957"/>
          </a:xfrm>
          <a:prstGeom prst="rect">
            <a:avLst/>
          </a:prstGeom>
          <a:solidFill>
            <a:srgbClr val="55575A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4301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Вузы и СУЗы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93790" y="499645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2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Более </a:t>
            </a:r>
            <a:r>
              <a:rPr lang="en-US" sz="2400" b="1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5 000 учебных заведений</a:t>
            </a:r>
            <a:r>
              <a:rPr lang="en-US" sz="2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 и </a:t>
            </a:r>
            <a:r>
              <a:rPr lang="en-US" sz="2400" b="1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8 млн студентов</a:t>
            </a:r>
            <a:r>
              <a:rPr lang="en-US" sz="2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. Каждая сессия — сотни часов преподавательского труда на проверку знаний.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3790" y="6090761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22K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900113" y="71225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Предприятий М</a:t>
            </a:r>
            <a:r>
              <a:rPr lang="ru-RU" sz="220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СБ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25278" y="609076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2M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4231719" y="71225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Сотрудников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56884" y="609076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5K+</a:t>
            </a:r>
            <a:endParaRPr lang="en-US" sz="5850" dirty="0"/>
          </a:p>
        </p:txBody>
      </p:sp>
      <p:sp>
        <p:nvSpPr>
          <p:cNvPr id="15" name="Text 13"/>
          <p:cNvSpPr/>
          <p:nvPr/>
        </p:nvSpPr>
        <p:spPr>
          <a:xfrm>
            <a:off x="7563326" y="71225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Учебных заведений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788491" y="609076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8M</a:t>
            </a:r>
            <a:endParaRPr lang="en-US" sz="5850" dirty="0"/>
          </a:p>
        </p:txBody>
      </p:sp>
      <p:sp>
        <p:nvSpPr>
          <p:cNvPr id="17" name="Text 15"/>
          <p:cNvSpPr/>
          <p:nvPr/>
        </p:nvSpPr>
        <p:spPr>
          <a:xfrm>
            <a:off x="10894933" y="71225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Студентов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12658" y="-1892595"/>
            <a:ext cx="14630400" cy="1934408"/>
          </a:xfrm>
          <a:prstGeom prst="rect">
            <a:avLst/>
          </a:prstGeom>
          <a:solidFill>
            <a:srgbClr val="DFDFE0"/>
          </a:solidFill>
          <a:ln/>
        </p:spPr>
      </p:sp>
      <p:sp>
        <p:nvSpPr>
          <p:cNvPr id="7" name="Text 3"/>
          <p:cNvSpPr/>
          <p:nvPr/>
        </p:nvSpPr>
        <p:spPr>
          <a:xfrm>
            <a:off x="1976199" y="3482102"/>
            <a:ext cx="9156978" cy="450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5"/>
          <p:cNvSpPr/>
          <p:nvPr/>
        </p:nvSpPr>
        <p:spPr>
          <a:xfrm>
            <a:off x="981028" y="2004959"/>
            <a:ext cx="5465221" cy="1687100"/>
          </a:xfrm>
          <a:prstGeom prst="roundRect">
            <a:avLst>
              <a:gd name="adj" fmla="val 9328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48094" y="2106380"/>
            <a:ext cx="1977985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75A"/>
                </a:solidFill>
                <a:effectLst/>
                <a:uLnTx/>
                <a:uFillTx/>
                <a:ea typeface="Inter" pitchFamily="34" charset="-122"/>
                <a:cs typeface="Inter" pitchFamily="34" charset="-120"/>
              </a:rPr>
              <a:t>Активное внедрение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248094" y="2526934"/>
            <a:ext cx="4716772" cy="937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75A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"...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55575A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В целом предстоит а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75A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ктивнее внедрять в образовательный процесс передовые платформенные и цифровые решения, а также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55575A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 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55575A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технологии искусственного интеллекта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."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895369" y="2009818"/>
            <a:ext cx="5486937" cy="1659291"/>
          </a:xfrm>
          <a:prstGeom prst="roundRect">
            <a:avLst>
              <a:gd name="adj" fmla="val 9328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35412" y="2123957"/>
            <a:ext cx="2205395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75A"/>
                </a:solidFill>
                <a:effectLst/>
                <a:uLnTx/>
                <a:uFillTx/>
                <a:ea typeface="Inter" pitchFamily="34" charset="-122"/>
                <a:cs typeface="Inter" pitchFamily="34" charset="-120"/>
              </a:rPr>
              <a:t>Аккуратность и баланс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035412" y="2500216"/>
            <a:ext cx="5073419" cy="981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75A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"...действовать... очень аккуратно и сбалансированно, не допускать упрощения и искажения образовательного процесса, замены поиска, получения знаний готовыми компьютерными решениями."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Text 11"/>
          <p:cNvSpPr/>
          <p:nvPr/>
        </p:nvSpPr>
        <p:spPr>
          <a:xfrm>
            <a:off x="981027" y="3870797"/>
            <a:ext cx="11108053" cy="426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55575A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Президент РФ, </a:t>
            </a:r>
            <a:r>
              <a:rPr kumimoji="0" lang="ru-RU" sz="1700" b="1" i="0" u="none" strike="noStrike" kern="1200" cap="none" spc="0" normalizeH="0" baseline="0" noProof="0" dirty="0">
                <a:ln>
                  <a:noFill/>
                </a:ln>
                <a:solidFill>
                  <a:srgbClr val="55575A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Совещание с Правительством,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55575A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4 марта 2026 года</a:t>
            </a:r>
            <a:endParaRPr kumimoji="0" lang="ru-RU" sz="1700" b="1" i="0" u="none" strike="noStrike" kern="1200" cap="none" spc="0" normalizeH="0" baseline="0" noProof="0" dirty="0">
              <a:ln>
                <a:noFill/>
              </a:ln>
              <a:solidFill>
                <a:srgbClr val="55575A"/>
              </a:solidFill>
              <a:effectLst/>
              <a:uLnTx/>
              <a:uFillTx/>
              <a:ea typeface="Manrope" pitchFamily="34" charset="-122"/>
              <a:cs typeface="Manrope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sng" strike="noStrike" kern="1200" cap="none" spc="0" normalizeH="0" baseline="0" noProof="0" dirty="0">
                <a:ln>
                  <a:noFill/>
                </a:ln>
                <a:solidFill>
                  <a:srgbClr val="FF7047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Источник: kremlin.ru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581746" y="5389254"/>
            <a:ext cx="6114181" cy="87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75A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 AI-система оценки знаний соответств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55575A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ует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75A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55575A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 данной задаче Президента РФ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75A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 , обеспечивая точное и объективное тестирование без ущерба для глубины и качества обучения. Она поддерживает, а не заменяет, процесс получения знаний.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28" y="4387000"/>
            <a:ext cx="5938019" cy="29535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9595" y="561628"/>
            <a:ext cx="128654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ea typeface="Inter" panose="020B0604020202020204" charset="0"/>
              </a:rPr>
              <a:t>Президент РФ о внедрении искусственного интеллекта </a:t>
            </a:r>
          </a:p>
          <a:p>
            <a:pPr algn="ctr"/>
            <a:r>
              <a:rPr lang="ru-RU" sz="3600" b="1" dirty="0">
                <a:ea typeface="Inter" panose="020B0604020202020204" charset="0"/>
              </a:rPr>
              <a:t>в образовательный процесс</a:t>
            </a:r>
          </a:p>
        </p:txBody>
      </p:sp>
    </p:spTree>
    <p:extLst>
      <p:ext uri="{BB962C8B-B14F-4D97-AF65-F5344CB8AC3E}">
        <p14:creationId xmlns:p14="http://schemas.microsoft.com/office/powerpoint/2010/main" val="1016485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06498" y="1082873"/>
            <a:ext cx="1294805" cy="288608"/>
          </a:xfrm>
          <a:prstGeom prst="roundRect">
            <a:avLst>
              <a:gd name="adj" fmla="val 42003"/>
            </a:avLst>
          </a:prstGeom>
          <a:solidFill>
            <a:srgbClr val="FFD7CC"/>
          </a:solidFill>
          <a:ln/>
        </p:spPr>
      </p:sp>
      <p:sp>
        <p:nvSpPr>
          <p:cNvPr id="3" name="Text 1"/>
          <p:cNvSpPr/>
          <p:nvPr/>
        </p:nvSpPr>
        <p:spPr>
          <a:xfrm>
            <a:off x="1607463" y="1133356"/>
            <a:ext cx="1092875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ЁМКОСТЬ РЫНКА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06498" y="1421368"/>
            <a:ext cx="7251144" cy="526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Экономический эффект внедрения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506498" y="2259687"/>
            <a:ext cx="2104549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Средний бизнес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506498" y="2663309"/>
            <a:ext cx="5603200" cy="2812256"/>
          </a:xfrm>
          <a:prstGeom prst="roundRect">
            <a:avLst>
              <a:gd name="adj" fmla="val 538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14118" y="2670929"/>
            <a:ext cx="5587960" cy="3995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682591" y="2753439"/>
            <a:ext cx="32916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Параметр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18522" y="2753439"/>
            <a:ext cx="16152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Значение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14118" y="3070503"/>
            <a:ext cx="5587960" cy="3995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682591" y="3153013"/>
            <a:ext cx="32916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Предприятий М</a:t>
            </a:r>
            <a:r>
              <a:rPr lang="ru-RU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С</a:t>
            </a: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18522" y="3153013"/>
            <a:ext cx="16152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22 000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514118" y="3470077"/>
            <a:ext cx="5587960" cy="3995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682591" y="3552587"/>
            <a:ext cx="32916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Сотрудников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18522" y="3552587"/>
            <a:ext cx="16152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2 000 000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514118" y="3869650"/>
            <a:ext cx="5587960" cy="3995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682591" y="3952161"/>
            <a:ext cx="32916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Доля внедрения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18522" y="3952161"/>
            <a:ext cx="16152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50%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514118" y="4269224"/>
            <a:ext cx="5587960" cy="3995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682591" y="4351734"/>
            <a:ext cx="32916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Экономия часов / сотрудник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18522" y="4351734"/>
            <a:ext cx="16152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2 ч/год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514118" y="4668798"/>
            <a:ext cx="5587960" cy="3995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682591" y="4751308"/>
            <a:ext cx="32916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Ставка, руб/час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18522" y="4751308"/>
            <a:ext cx="16152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500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514118" y="5068372"/>
            <a:ext cx="5587960" cy="3995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682591" y="5150882"/>
            <a:ext cx="32916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Экономия в год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18522" y="5150882"/>
            <a:ext cx="16152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1 млрд ₽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28084" y="2259687"/>
            <a:ext cx="2104549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Вузы и СУЗы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528084" y="2663309"/>
            <a:ext cx="5603200" cy="2812256"/>
          </a:xfrm>
          <a:prstGeom prst="roundRect">
            <a:avLst>
              <a:gd name="adj" fmla="val 538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35704" y="2670929"/>
            <a:ext cx="5587960" cy="3995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704177" y="2753439"/>
            <a:ext cx="32916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Параметр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340108" y="2753439"/>
            <a:ext cx="16152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Значение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535704" y="3070503"/>
            <a:ext cx="5587960" cy="3995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704177" y="3153013"/>
            <a:ext cx="32916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Учебных заведений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340108" y="3153013"/>
            <a:ext cx="16152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5 000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535704" y="3470077"/>
            <a:ext cx="5587960" cy="3995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704177" y="3552587"/>
            <a:ext cx="32916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Студентов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340108" y="3552587"/>
            <a:ext cx="16152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8 000 000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535704" y="3869650"/>
            <a:ext cx="5587960" cy="3995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704177" y="3952161"/>
            <a:ext cx="32916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Доля внедрения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340108" y="3952161"/>
            <a:ext cx="16152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50%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535704" y="4269224"/>
            <a:ext cx="5587960" cy="3995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704177" y="4351734"/>
            <a:ext cx="32916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Аттестаций в год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340108" y="4351734"/>
            <a:ext cx="16152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2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535704" y="4668798"/>
            <a:ext cx="5587960" cy="3995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704177" y="4751308"/>
            <a:ext cx="32916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Экономия часов / студент / экзамен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1340108" y="4751308"/>
            <a:ext cx="16152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0,3 ч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535704" y="5068372"/>
            <a:ext cx="5587960" cy="3995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704177" y="5150882"/>
            <a:ext cx="32916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Экономия в год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1340108" y="5150882"/>
            <a:ext cx="1615202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1,2 млрд ₽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506498" y="5840730"/>
            <a:ext cx="11617285" cy="555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350"/>
              </a:lnSpc>
            </a:pPr>
            <a:r>
              <a:rPr lang="en-US" sz="435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2,2₽</a:t>
            </a:r>
            <a:r>
              <a:rPr lang="ru-RU" sz="435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 млрд</a:t>
            </a:r>
            <a:r>
              <a:rPr lang="en-US" sz="440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 </a:t>
            </a:r>
            <a:endParaRPr lang="en-US" sz="4400" dirty="0"/>
          </a:p>
          <a:p>
            <a:pPr marL="0" indent="0" algn="ctr">
              <a:lnSpc>
                <a:spcPts val="4350"/>
              </a:lnSpc>
              <a:buNone/>
            </a:pPr>
            <a:endParaRPr lang="en-US" sz="4350" dirty="0"/>
          </a:p>
        </p:txBody>
      </p:sp>
      <p:sp>
        <p:nvSpPr>
          <p:cNvPr id="52" name="Text 50"/>
          <p:cNvSpPr/>
          <p:nvPr/>
        </p:nvSpPr>
        <p:spPr>
          <a:xfrm>
            <a:off x="6262807" y="6574155"/>
            <a:ext cx="2104549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506379" y="6720006"/>
            <a:ext cx="11617285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Суммарный потенциал по двум сегментам рынка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013" y="859869"/>
            <a:ext cx="2615327" cy="358616"/>
          </a:xfrm>
          <a:prstGeom prst="roundRect">
            <a:avLst>
              <a:gd name="adj" fmla="val 38666"/>
            </a:avLst>
          </a:prstGeom>
          <a:noFill/>
          <a:ln w="7620">
            <a:solidFill>
              <a:srgbClr val="FF7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7123" y="925235"/>
            <a:ext cx="236910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FF7047"/>
                </a:solidFill>
                <a:ea typeface="Manrope" pitchFamily="34" charset="-122"/>
                <a:cs typeface="Manrope" pitchFamily="34" charset="-120"/>
              </a:rPr>
              <a:t>ПОТЕРИ И РИСКИ БЕЗДЕЙСТВИЯ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74013" y="1283851"/>
            <a:ext cx="9107091" cy="601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Что будет, если не автоматизировать?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674013" y="2130981"/>
            <a:ext cx="4318397" cy="2680097"/>
          </a:xfrm>
          <a:prstGeom prst="roundRect">
            <a:avLst>
              <a:gd name="adj" fmla="val 6467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4157" y="2331125"/>
            <a:ext cx="577691" cy="577691"/>
          </a:xfrm>
          <a:prstGeom prst="roundRect">
            <a:avLst>
              <a:gd name="adj" fmla="val 15826948"/>
            </a:avLst>
          </a:prstGeom>
          <a:solidFill>
            <a:srgbClr val="FF704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986" y="2489954"/>
            <a:ext cx="259913" cy="2599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4157" y="3072289"/>
            <a:ext cx="2407325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Высокие затраты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74157" y="3471267"/>
            <a:ext cx="3918109" cy="1139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Ручное формирование экзаменационных материалов и проверка результатов требуют непрерывных инвестиций времени и бюджета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155882" y="2130981"/>
            <a:ext cx="4318516" cy="2680097"/>
          </a:xfrm>
          <a:prstGeom prst="roundRect">
            <a:avLst>
              <a:gd name="adj" fmla="val 6467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56027" y="2331125"/>
            <a:ext cx="577691" cy="577691"/>
          </a:xfrm>
          <a:prstGeom prst="roundRect">
            <a:avLst>
              <a:gd name="adj" fmla="val 15826948"/>
            </a:avLst>
          </a:prstGeom>
          <a:solidFill>
            <a:srgbClr val="FF704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4856" y="2489954"/>
            <a:ext cx="259913" cy="25991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56027" y="3072289"/>
            <a:ext cx="2778443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Устаревшая аттестация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5356027" y="3471267"/>
            <a:ext cx="3918228" cy="1139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Тесты отстают от реальных баз знаний — сотрудники формально проходят аттестацию, их компетенции не соответствуют актуальным требованиям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9637871" y="2130981"/>
            <a:ext cx="4318397" cy="2680097"/>
          </a:xfrm>
          <a:prstGeom prst="roundRect">
            <a:avLst>
              <a:gd name="adj" fmla="val 6467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838015" y="2331125"/>
            <a:ext cx="577691" cy="577691"/>
          </a:xfrm>
          <a:prstGeom prst="roundRect">
            <a:avLst>
              <a:gd name="adj" fmla="val 15826948"/>
            </a:avLst>
          </a:prstGeom>
          <a:solidFill>
            <a:srgbClr val="FF704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96845" y="2489954"/>
            <a:ext cx="259913" cy="25991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38015" y="3072289"/>
            <a:ext cx="3071693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Неэффективное обучение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9838015" y="3471267"/>
            <a:ext cx="3918109" cy="1139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Без объективной оценки невозможно выявить пробелы в знаниях и направить ресурсы на программы, которые реально работают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74013" y="4974550"/>
            <a:ext cx="6559391" cy="2395180"/>
          </a:xfrm>
          <a:prstGeom prst="roundRect">
            <a:avLst>
              <a:gd name="adj" fmla="val 7237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74157" y="5174694"/>
            <a:ext cx="577691" cy="577691"/>
          </a:xfrm>
          <a:prstGeom prst="roundRect">
            <a:avLst>
              <a:gd name="adj" fmla="val 15826948"/>
            </a:avLst>
          </a:prstGeom>
          <a:solidFill>
            <a:srgbClr val="FF7047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2986" y="5333524"/>
            <a:ext cx="259913" cy="25991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74157" y="5915858"/>
            <a:ext cx="3124795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Субъективность и ошибки</a:t>
            </a:r>
            <a:endParaRPr lang="en-US" sz="1850" dirty="0"/>
          </a:p>
        </p:txBody>
      </p:sp>
      <p:sp>
        <p:nvSpPr>
          <p:cNvPr id="24" name="Text 18"/>
          <p:cNvSpPr/>
          <p:nvPr/>
        </p:nvSpPr>
        <p:spPr>
          <a:xfrm>
            <a:off x="874157" y="6314837"/>
            <a:ext cx="6159103" cy="854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Ручная проверка порождает несопоставимые, нестандартизированные результаты и создаёт риски в обеспечении компетентности персонала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7396877" y="4974550"/>
            <a:ext cx="6559391" cy="2395180"/>
          </a:xfrm>
          <a:prstGeom prst="roundRect">
            <a:avLst>
              <a:gd name="adj" fmla="val 7237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597021" y="5174694"/>
            <a:ext cx="577691" cy="577691"/>
          </a:xfrm>
          <a:prstGeom prst="roundRect">
            <a:avLst>
              <a:gd name="adj" fmla="val 15826948"/>
            </a:avLst>
          </a:prstGeom>
          <a:solidFill>
            <a:srgbClr val="FF7047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55850" y="5333524"/>
            <a:ext cx="259913" cy="25991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597021" y="5915858"/>
            <a:ext cx="4146590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Невозможность масштабирования</a:t>
            </a:r>
            <a:endParaRPr lang="en-US" sz="1850" dirty="0"/>
          </a:p>
        </p:txBody>
      </p:sp>
      <p:sp>
        <p:nvSpPr>
          <p:cNvPr id="29" name="Text 22"/>
          <p:cNvSpPr/>
          <p:nvPr/>
        </p:nvSpPr>
        <p:spPr>
          <a:xfrm>
            <a:off x="7597021" y="6314837"/>
            <a:ext cx="6159103" cy="854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Зависимость от отдельных экспертов и ручных процессов блокирует рост бизнеса и адаптацию к изменениям регуляций и технологий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4654" y="507802"/>
            <a:ext cx="885111" cy="318254"/>
          </a:xfrm>
          <a:prstGeom prst="roundRect">
            <a:avLst>
              <a:gd name="adj" fmla="val 41119"/>
            </a:avLst>
          </a:prstGeom>
          <a:solidFill>
            <a:srgbClr val="FFD7CC"/>
          </a:solidFill>
          <a:ln/>
        </p:spPr>
      </p:sp>
      <p:sp>
        <p:nvSpPr>
          <p:cNvPr id="3" name="Text 1"/>
          <p:cNvSpPr/>
          <p:nvPr/>
        </p:nvSpPr>
        <p:spPr>
          <a:xfrm>
            <a:off x="1153597" y="562213"/>
            <a:ext cx="667226" cy="20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4654" y="884277"/>
            <a:ext cx="4947285" cy="567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Как работает система</a:t>
            </a:r>
            <a:endParaRPr lang="en-US" sz="3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27" y="1586091"/>
            <a:ext cx="12437626" cy="5363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33233" y="6016871"/>
            <a:ext cx="3216332" cy="352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ea typeface="Inter" pitchFamily="34" charset="-122"/>
                <a:cs typeface="Inter" pitchFamily="34" charset="-120"/>
              </a:rPr>
              <a:t>Прохождение и оценка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933233" y="4775329"/>
            <a:ext cx="2867735" cy="352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ea typeface="Inter" pitchFamily="34" charset="-122"/>
                <a:cs typeface="Inter" pitchFamily="34" charset="-120"/>
              </a:rPr>
              <a:t>Генерация вопросов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1933233" y="3546327"/>
            <a:ext cx="2821687" cy="352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ea typeface="Inter" pitchFamily="34" charset="-122"/>
                <a:cs typeface="Inter" pitchFamily="34" charset="-120"/>
              </a:rPr>
              <a:t>Анализ LLM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929765" y="2212729"/>
            <a:ext cx="2994908" cy="352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ea typeface="Inter" pitchFamily="34" charset="-122"/>
                <a:cs typeface="Inter" pitchFamily="34" charset="-120"/>
              </a:rPr>
              <a:t>Загрузить материалы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044654" y="7083385"/>
            <a:ext cx="1254097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Администратор загружает материалы и задаёт параметры — система автоматически генерирует уникальные вопросы и оценивает ответы. LLM-ядро обеспечивает быстрый, точный и воспроизводимый анализ любой базы знаний.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2968" y="297999"/>
            <a:ext cx="1928693" cy="343853"/>
          </a:xfrm>
          <a:prstGeom prst="roundRect">
            <a:avLst>
              <a:gd name="adj" fmla="val 38978"/>
            </a:avLst>
          </a:prstGeom>
          <a:noFill/>
          <a:ln w="7620">
            <a:solidFill>
              <a:srgbClr val="FF7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2268" y="361459"/>
            <a:ext cx="1690092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ru-RU" sz="1400" dirty="0">
                <a:solidFill>
                  <a:srgbClr val="FF7047"/>
                </a:solidFill>
              </a:rPr>
              <a:t>Архитектура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063411" y="988406"/>
            <a:ext cx="4016755" cy="461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Архитектура решения</a:t>
            </a:r>
            <a:r>
              <a:rPr lang="ru-RU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 (верхний уровень)</a:t>
            </a:r>
            <a:endParaRPr lang="en-US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5CA99F1-B1E2-097C-17F2-B7B68CA7E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54" y="1888177"/>
            <a:ext cx="6118184" cy="521326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BD31B36-AD8D-CF29-EAA6-35DC28091489}"/>
              </a:ext>
            </a:extLst>
          </p:cNvPr>
          <p:cNvSpPr txBox="1"/>
          <p:nvPr/>
        </p:nvSpPr>
        <p:spPr>
          <a:xfrm>
            <a:off x="8758052" y="1219238"/>
            <a:ext cx="4239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Инстанс у конкретного клиента</a:t>
            </a: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D41A83A1-3FC8-C265-3A3C-F34ADA99E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097" y="1888177"/>
            <a:ext cx="6121400" cy="52132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3C8751-C809-DD0E-8175-73109F8FEE9D}"/>
              </a:ext>
            </a:extLst>
          </p:cNvPr>
          <p:cNvSpPr/>
          <p:nvPr/>
        </p:nvSpPr>
        <p:spPr>
          <a:xfrm>
            <a:off x="964220" y="376130"/>
            <a:ext cx="5778358" cy="369332"/>
          </a:xfrm>
          <a:prstGeom prst="roundRect">
            <a:avLst>
              <a:gd name="adj" fmla="val 38978"/>
            </a:avLst>
          </a:prstGeom>
          <a:noFill/>
          <a:ln w="7620">
            <a:solidFill>
              <a:srgbClr val="FF7047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309441-920B-59F3-0130-D73144AA5B83}"/>
              </a:ext>
            </a:extLst>
          </p:cNvPr>
          <p:cNvSpPr txBox="1"/>
          <p:nvPr/>
        </p:nvSpPr>
        <p:spPr>
          <a:xfrm>
            <a:off x="1128156" y="427512"/>
            <a:ext cx="5614422" cy="3167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700"/>
              </a:lnSpc>
            </a:pPr>
            <a:r>
              <a:rPr lang="ru-RU" dirty="0">
                <a:solidFill>
                  <a:srgbClr val="FF7047"/>
                </a:solidFill>
              </a:rPr>
              <a:t>Затраты на создание прототипа и эффект от внедрения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EA6673-0F06-EDD0-8080-00574A023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60" y="1469901"/>
            <a:ext cx="6134618" cy="16256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51703B-D7D1-3275-640E-5CD0E70C6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283" y="1469901"/>
            <a:ext cx="6184900" cy="17272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ADEEA64-7D2C-B01D-9FFA-08E8CF75A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683" y="3102923"/>
            <a:ext cx="6159500" cy="2006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D91557-C1F1-5FE4-79F3-CBC34BB53584}"/>
              </a:ext>
            </a:extLst>
          </p:cNvPr>
          <p:cNvSpPr txBox="1"/>
          <p:nvPr/>
        </p:nvSpPr>
        <p:spPr>
          <a:xfrm>
            <a:off x="607960" y="1099372"/>
            <a:ext cx="3294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Затраты на создание прототипа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EE4E47-116C-9189-03DB-7EC0E94AA35C}"/>
              </a:ext>
            </a:extLst>
          </p:cNvPr>
          <p:cNvSpPr txBox="1"/>
          <p:nvPr/>
        </p:nvSpPr>
        <p:spPr>
          <a:xfrm>
            <a:off x="7635834" y="1211283"/>
            <a:ext cx="4243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Эффект от внедрения в Среднем бизнесе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F1BC30-8781-FA4D-3AC7-AED448077999}"/>
              </a:ext>
            </a:extLst>
          </p:cNvPr>
          <p:cNvSpPr txBox="1"/>
          <p:nvPr/>
        </p:nvSpPr>
        <p:spPr>
          <a:xfrm>
            <a:off x="607960" y="4359191"/>
            <a:ext cx="3871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Эффект от внедрения в ВУЗах и </a:t>
            </a:r>
            <a:r>
              <a:rPr lang="ru-RU" dirty="0" err="1"/>
              <a:t>СУЗах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AA8E1B3-7855-498D-1721-6F2D630E3B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05" y="4770087"/>
            <a:ext cx="6134618" cy="29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358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90E3B2-3320-1C3F-50DA-C9695ABCA02F}"/>
              </a:ext>
            </a:extLst>
          </p:cNvPr>
          <p:cNvSpPr/>
          <p:nvPr/>
        </p:nvSpPr>
        <p:spPr>
          <a:xfrm>
            <a:off x="964220" y="376130"/>
            <a:ext cx="5778358" cy="369332"/>
          </a:xfrm>
          <a:prstGeom prst="roundRect">
            <a:avLst>
              <a:gd name="adj" fmla="val 38978"/>
            </a:avLst>
          </a:prstGeom>
          <a:noFill/>
          <a:ln w="7620">
            <a:solidFill>
              <a:srgbClr val="FF7047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33EBBF-7CF6-11F8-C947-23265B904A2B}"/>
              </a:ext>
            </a:extLst>
          </p:cNvPr>
          <p:cNvSpPr txBox="1"/>
          <p:nvPr/>
        </p:nvSpPr>
        <p:spPr>
          <a:xfrm>
            <a:off x="1128156" y="427512"/>
            <a:ext cx="2428870" cy="3167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700"/>
              </a:lnSpc>
            </a:pPr>
            <a:r>
              <a:rPr lang="ru-RU" dirty="0">
                <a:solidFill>
                  <a:srgbClr val="FF7047"/>
                </a:solidFill>
              </a:rPr>
              <a:t>Перспективы развития</a:t>
            </a:r>
            <a:endParaRPr lang="en-US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97BA16C5-99BD-6B0A-3E01-EC4A2B30E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27" y="1586091"/>
            <a:ext cx="12437626" cy="53634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DF3EDC-25FA-958D-ECB6-81384252A224}"/>
              </a:ext>
            </a:extLst>
          </p:cNvPr>
          <p:cNvSpPr txBox="1"/>
          <p:nvPr/>
        </p:nvSpPr>
        <p:spPr>
          <a:xfrm>
            <a:off x="1638795" y="2290741"/>
            <a:ext cx="3716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Мобильное приложение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762E76-D2CD-10C5-2BDC-EF8759BECBB6}"/>
              </a:ext>
            </a:extLst>
          </p:cNvPr>
          <p:cNvSpPr txBox="1"/>
          <p:nvPr/>
        </p:nvSpPr>
        <p:spPr>
          <a:xfrm>
            <a:off x="1638794" y="3501899"/>
            <a:ext cx="8717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Функционал тестирования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ru-RU" dirty="0" err="1">
                <a:solidFill>
                  <a:schemeClr val="bg1"/>
                </a:solidFill>
              </a:rPr>
              <a:t>экзаменации</a:t>
            </a:r>
            <a:r>
              <a:rPr lang="ru-RU" dirty="0">
                <a:solidFill>
                  <a:schemeClr val="bg1"/>
                </a:solidFill>
              </a:rPr>
              <a:t> с открытыми вопросами, </a:t>
            </a:r>
            <a:r>
              <a:rPr lang="en-US" dirty="0">
                <a:solidFill>
                  <a:schemeClr val="bg1"/>
                </a:solidFill>
              </a:rPr>
              <a:t>STT</a:t>
            </a:r>
            <a:r>
              <a:rPr lang="ru-RU" dirty="0">
                <a:solidFill>
                  <a:schemeClr val="bg1"/>
                </a:solidFill>
              </a:rPr>
              <a:t>, аватаром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8639C-5368-AAB3-FD6D-8FACCCC67D17}"/>
              </a:ext>
            </a:extLst>
          </p:cNvPr>
          <p:cNvSpPr txBox="1"/>
          <p:nvPr/>
        </p:nvSpPr>
        <p:spPr>
          <a:xfrm>
            <a:off x="1638795" y="4711860"/>
            <a:ext cx="7454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LLM </a:t>
            </a:r>
            <a:r>
              <a:rPr lang="ru-RU" dirty="0">
                <a:solidFill>
                  <a:schemeClr val="bg1"/>
                </a:solidFill>
              </a:rPr>
              <a:t>интеграции для работы с корпоративной и государственной тайнами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80ABE-DFA8-FB80-C629-4463E04279CB}"/>
              </a:ext>
            </a:extLst>
          </p:cNvPr>
          <p:cNvSpPr txBox="1"/>
          <p:nvPr/>
        </p:nvSpPr>
        <p:spPr>
          <a:xfrm>
            <a:off x="1638795" y="5921821"/>
            <a:ext cx="4308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LLM </a:t>
            </a:r>
            <a:r>
              <a:rPr lang="ru-RU" dirty="0">
                <a:solidFill>
                  <a:schemeClr val="bg1"/>
                </a:solidFill>
              </a:rPr>
              <a:t>интеграции под конкретного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3878826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36735" y="1067991"/>
            <a:ext cx="6999876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ea typeface="Inter" pitchFamily="34" charset="-122"/>
                <a:cs typeface="Inter" pitchFamily="34" charset="-120"/>
              </a:rPr>
              <a:t>Начните автоматизацию аттестации уже сегодня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836735" y="2681883"/>
            <a:ext cx="6999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 Свяжитесь с командой, чтобы обсудить интеграцию в  процессы обучения и оценки знаний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38889" y="3604022"/>
            <a:ext cx="7556421" cy="4018897"/>
          </a:xfrm>
          <a:prstGeom prst="roundRect">
            <a:avLst>
              <a:gd name="adj" fmla="val 608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4770" y="4031594"/>
            <a:ext cx="7279332" cy="1519416"/>
          </a:xfrm>
          <a:prstGeom prst="roundRect">
            <a:avLst>
              <a:gd name="adj" fmla="val 12225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6514623" y="41733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Денис Кашицын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14624" y="4531519"/>
            <a:ext cx="7087553" cy="1045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Tech Lead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Telegram: @dkashitsyn</a:t>
            </a:r>
          </a:p>
          <a:p>
            <a:pPr>
              <a:lnSpc>
                <a:spcPts val="2850"/>
              </a:lnSpc>
            </a:pPr>
            <a:r>
              <a:rPr lang="en-US" dirty="0"/>
              <a:t>Tel: +7-921-765-81-25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350099" y="5917723"/>
            <a:ext cx="7334003" cy="1634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04769" y="5766553"/>
            <a:ext cx="7279333" cy="45719"/>
          </a:xfrm>
          <a:prstGeom prst="roundRect">
            <a:avLst>
              <a:gd name="adj" fmla="val 669768"/>
            </a:avLst>
          </a:prstGeom>
          <a:solidFill>
            <a:srgbClr val="E5562D"/>
          </a:solidFill>
          <a:ln/>
        </p:spPr>
      </p:sp>
      <p:sp>
        <p:nvSpPr>
          <p:cNvPr id="11" name="Text 8"/>
          <p:cNvSpPr/>
          <p:nvPr/>
        </p:nvSpPr>
        <p:spPr>
          <a:xfrm>
            <a:off x="6514622" y="5944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ea typeface="Inter" pitchFamily="34" charset="-122"/>
                <a:cs typeface="Inter" pitchFamily="34" charset="-120"/>
              </a:rPr>
              <a:t>Сергей Подобряев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334484"/>
            <a:ext cx="6765440" cy="1176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AI Developer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ea typeface="Manrope" pitchFamily="34" charset="-122"/>
                <a:cs typeface="Manrope" pitchFamily="34" charset="-120"/>
              </a:rPr>
              <a:t>Telegram: @p30s08</a:t>
            </a:r>
          </a:p>
          <a:p>
            <a:pPr>
              <a:lnSpc>
                <a:spcPts val="2850"/>
              </a:lnSpc>
            </a:pPr>
            <a:r>
              <a:rPr lang="en-US" dirty="0"/>
              <a:t>Tel: +7-903-327-76-92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5730948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697</Words>
  <Application>Microsoft Macintosh PowerPoint</Application>
  <PresentationFormat>Произвольный</PresentationFormat>
  <Paragraphs>134</Paragraphs>
  <Slides>13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Inter</vt:lpstr>
      <vt:lpstr>Arial</vt:lpstr>
      <vt:lpstr>Calibri</vt:lpstr>
      <vt:lpstr>Manrope</vt:lpstr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honor</dc:creator>
  <cp:lastModifiedBy>Microsoft Office User</cp:lastModifiedBy>
  <cp:revision>61</cp:revision>
  <dcterms:created xsi:type="dcterms:W3CDTF">2026-03-13T19:34:53Z</dcterms:created>
  <dcterms:modified xsi:type="dcterms:W3CDTF">2026-03-22T10:18:04Z</dcterms:modified>
</cp:coreProperties>
</file>